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C89B63">
              <a:alpha val="1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327" y="1918665"/>
            <a:ext cx="5867346" cy="36705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6057" y="6046345"/>
            <a:ext cx="5635885" cy="626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i="1" spc="35" kern="0" dirty="0">
                <a:solidFill>
                  <a:srgbClr val="C89B6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Fresh. Pure. Delivered Daily.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6006929" y="6844605"/>
            <a:ext cx="6274142" cy="410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spc="90" kern="0" dirty="0">
                <a:solidFill>
                  <a:srgbClr val="F5F1EC">
                    <a:alpha val="82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Premium Vegetarian Pre-Order Meal Service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699850" y="8131157"/>
            <a:ext cx="2711892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1EC">
                    <a:alpha val="70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Presented by </a:t>
            </a:r>
            <a:pPr algn="ctr" indent="0" marL="0">
              <a:buNone/>
            </a:pPr>
            <a:r>
              <a:rPr lang="en-US" sz="1800" dirty="0">
                <a:solidFill>
                  <a:srgbClr val="F5F1E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[Your Name]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848416" y="8131157"/>
            <a:ext cx="152644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B63">
                    <a:alpha val="50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·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439129" y="8131157"/>
            <a:ext cx="1147492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1EC">
                    <a:alpha val="70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June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92" y="857250"/>
            <a:ext cx="389524" cy="3237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8561" y="871862"/>
            <a:ext cx="2123940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68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WHO WE ARE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66692" y="1352442"/>
            <a:ext cx="16639255" cy="684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New Standard for Daily Vegetarian Meals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8524874" y="2284376"/>
            <a:ext cx="1238250" cy="18942"/>
          </a:xfrm>
          <a:prstGeom prst="rect">
            <a:avLst/>
          </a:prstGeom>
          <a:solidFill>
            <a:srgbClr val="C89B63"/>
          </a:solidFill>
          <a:ln/>
        </p:spPr>
      </p:sp>
      <p:sp>
        <p:nvSpPr>
          <p:cNvPr id="6" name="Text 3"/>
          <p:cNvSpPr/>
          <p:nvPr/>
        </p:nvSpPr>
        <p:spPr>
          <a:xfrm>
            <a:off x="1066692" y="2817587"/>
            <a:ext cx="8977951" cy="141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5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Brahma Kalasha is a premium vegetarian food business built around one promise — freshly prepared home-style meals, delivered to your door the next morning, every single day.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66692" y="4482973"/>
            <a:ext cx="8977951" cy="552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i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are not a restaurant. We are not a food aggregator.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66692" y="5282992"/>
            <a:ext cx="8977951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are a purpose-built, technology-powered food operation that knows exactly how much to cook every day — because every meal is pre-ordered before the kitchen lights up.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392668" y="2817587"/>
            <a:ext cx="6828640" cy="6669394"/>
          </a:xfrm>
          <a:prstGeom prst="roundRect">
            <a:avLst>
              <a:gd name="adj" fmla="val 2571"/>
            </a:avLst>
          </a:prstGeom>
          <a:solidFill>
            <a:srgbClr val="FBF8F4"/>
          </a:solidFill>
          <a:ln w="8659">
            <a:solidFill>
              <a:srgbClr val="E3D8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801269" y="3245265"/>
            <a:ext cx="6191781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AT A GLANCE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801269" y="3825424"/>
            <a:ext cx="6191781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Founded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801269" y="4119833"/>
            <a:ext cx="619178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4B0F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[Year]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0801269" y="4834208"/>
            <a:ext cx="6191781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Location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801269" y="5128617"/>
            <a:ext cx="619178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4B0F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[City]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0801269" y="5842992"/>
            <a:ext cx="6191781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Cuisine Focus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801269" y="6137401"/>
            <a:ext cx="6191781" cy="780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4B0F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South Indian Tiffins · Veg Lunches · Chaats · Indian Sweets · Healthy Specials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92" y="857250"/>
            <a:ext cx="389524" cy="3237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8561" y="871862"/>
            <a:ext cx="2231366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68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66692" y="1352442"/>
            <a:ext cx="16639255" cy="684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Clean Vegetarian Food Is Surprisingly Hard to Find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066692" y="2493818"/>
            <a:ext cx="518355" cy="1381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50" b="1" dirty="0">
                <a:solidFill>
                  <a:srgbClr val="A87B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1756442" y="2493818"/>
            <a:ext cx="726580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4B0F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Restaurants compromise when it gets busy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756442" y="2979539"/>
            <a:ext cx="726580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Ingredients are swapped under pressure — you never really know what is in your food.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9477374" y="2493818"/>
            <a:ext cx="575315" cy="1381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50" b="1" dirty="0">
                <a:solidFill>
                  <a:srgbClr val="A87B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3450" dirty="0"/>
          </a:p>
        </p:txBody>
      </p:sp>
      <p:sp>
        <p:nvSpPr>
          <p:cNvPr id="9" name="Text 6"/>
          <p:cNvSpPr/>
          <p:nvPr/>
        </p:nvSpPr>
        <p:spPr>
          <a:xfrm>
            <a:off x="10224086" y="2493818"/>
            <a:ext cx="720713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4B0F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Aggregator apps hide the kitchen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0224086" y="2979539"/>
            <a:ext cx="720713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Food arrives from kitchens you have never seen, prepared hours before it reaches you.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066692" y="4160558"/>
            <a:ext cx="560433" cy="1381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50" b="1" dirty="0">
                <a:solidFill>
                  <a:srgbClr val="A87B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3450" dirty="0"/>
          </a:p>
        </p:txBody>
      </p:sp>
      <p:sp>
        <p:nvSpPr>
          <p:cNvPr id="12" name="Text 9"/>
          <p:cNvSpPr/>
          <p:nvPr/>
        </p:nvSpPr>
        <p:spPr>
          <a:xfrm>
            <a:off x="1798520" y="4160558"/>
            <a:ext cx="722246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4B0F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Home cooking takes time families don't have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798520" y="4646279"/>
            <a:ext cx="722246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Working households are forced to compromise on food, daily.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9477374" y="4160558"/>
            <a:ext cx="575992" cy="1381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50" b="1" dirty="0">
                <a:solidFill>
                  <a:srgbClr val="A87B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3450" dirty="0"/>
          </a:p>
        </p:txBody>
      </p:sp>
      <p:sp>
        <p:nvSpPr>
          <p:cNvPr id="15" name="Text 12"/>
          <p:cNvSpPr/>
          <p:nvPr/>
        </p:nvSpPr>
        <p:spPr>
          <a:xfrm>
            <a:off x="10224762" y="4160558"/>
            <a:ext cx="720644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4B0F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Vegetarian diners are an afterthought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0224762" y="4646279"/>
            <a:ext cx="720644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Veg menus are rarely the focus — they are added on, not designed for.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1066692" y="7883155"/>
            <a:ext cx="16154616" cy="1603826"/>
          </a:xfrm>
          <a:prstGeom prst="roundRect">
            <a:avLst>
              <a:gd name="adj" fmla="val 10690"/>
            </a:avLst>
          </a:prstGeom>
          <a:solidFill>
            <a:srgbClr val="4B0F16"/>
          </a:solidFill>
          <a:ln/>
        </p:spPr>
      </p:sp>
      <p:sp>
        <p:nvSpPr>
          <p:cNvPr id="18" name="Text 15"/>
          <p:cNvSpPr/>
          <p:nvPr/>
        </p:nvSpPr>
        <p:spPr>
          <a:xfrm>
            <a:off x="1504842" y="8245105"/>
            <a:ext cx="15762955" cy="918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F5F1EC"/>
                </a:solidFill>
                <a:highlight>
                  <a:srgbClr val="4B0F16"/>
                </a:highlight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Millions of vegetarian households settle every day — </a:t>
            </a:r>
            <a:pPr algn="l" indent="0" marL="0">
              <a:lnSpc>
                <a:spcPct val="140000"/>
              </a:lnSpc>
              <a:buNone/>
            </a:pPr>
            <a:r>
              <a:rPr lang="en-US" sz="2475" i="1" dirty="0">
                <a:solidFill>
                  <a:srgbClr val="C89B6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not because they want to, but because there is no better option.</a:t>
            </a:r>
            <a:endParaRPr lang="en-US" sz="24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92" y="857250"/>
            <a:ext cx="389524" cy="3237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8561" y="871862"/>
            <a:ext cx="2396430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68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66692" y="1352442"/>
            <a:ext cx="16639255" cy="684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Pre-Order Tonight. </a:t>
            </a:r>
            <a:pPr algn="l" indent="0" marL="0">
              <a:lnSpc>
                <a:spcPct val="106000"/>
              </a:lnSpc>
              <a:buNone/>
            </a:pPr>
            <a:r>
              <a:rPr lang="en-US" sz="4800" b="1" i="1" spc="-48" kern="0" dirty="0">
                <a:solidFill>
                  <a:srgbClr val="A87B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Fresh on Your Doorstep Tomorrow.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1066692" y="2551049"/>
            <a:ext cx="3824342" cy="25977"/>
          </a:xfrm>
          <a:prstGeom prst="rect">
            <a:avLst/>
          </a:prstGeom>
          <a:solidFill>
            <a:srgbClr val="C89B63"/>
          </a:solidFill>
          <a:ln/>
        </p:spPr>
      </p:sp>
      <p:sp>
        <p:nvSpPr>
          <p:cNvPr id="6" name="Text 3"/>
          <p:cNvSpPr/>
          <p:nvPr/>
        </p:nvSpPr>
        <p:spPr>
          <a:xfrm>
            <a:off x="1066692" y="2824622"/>
            <a:ext cx="3939072" cy="82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900" b="1" dirty="0">
                <a:solidFill>
                  <a:srgbClr val="A87B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6900" dirty="0"/>
          </a:p>
        </p:txBody>
      </p:sp>
      <p:sp>
        <p:nvSpPr>
          <p:cNvPr id="7" name="Text 4"/>
          <p:cNvSpPr/>
          <p:nvPr/>
        </p:nvSpPr>
        <p:spPr>
          <a:xfrm>
            <a:off x="1066692" y="3784699"/>
            <a:ext cx="39390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4B0F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Menu published every evening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066692" y="4813372"/>
            <a:ext cx="3939072" cy="724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Admin curates tomorrow's menu — seasonal, nutritious, traditional.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176783" y="2551049"/>
            <a:ext cx="3824342" cy="25977"/>
          </a:xfrm>
          <a:prstGeom prst="rect">
            <a:avLst/>
          </a:prstGeom>
          <a:solidFill>
            <a:srgbClr val="C89B63"/>
          </a:solidFill>
          <a:ln/>
        </p:spPr>
      </p:sp>
      <p:sp>
        <p:nvSpPr>
          <p:cNvPr id="10" name="Text 7"/>
          <p:cNvSpPr/>
          <p:nvPr/>
        </p:nvSpPr>
        <p:spPr>
          <a:xfrm>
            <a:off x="5176783" y="2824622"/>
            <a:ext cx="3939072" cy="82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900" b="1" dirty="0">
                <a:solidFill>
                  <a:srgbClr val="A87B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6900" dirty="0"/>
          </a:p>
        </p:txBody>
      </p:sp>
      <p:sp>
        <p:nvSpPr>
          <p:cNvPr id="11" name="Text 8"/>
          <p:cNvSpPr/>
          <p:nvPr/>
        </p:nvSpPr>
        <p:spPr>
          <a:xfrm>
            <a:off x="5176783" y="3784699"/>
            <a:ext cx="39390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4B0F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Customers pre-order by 9 PM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5176783" y="4813372"/>
            <a:ext cx="3939072" cy="724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Order placed, payment confirmed, quantity locked.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286874" y="2551049"/>
            <a:ext cx="3824342" cy="25977"/>
          </a:xfrm>
          <a:prstGeom prst="rect">
            <a:avLst/>
          </a:prstGeom>
          <a:solidFill>
            <a:srgbClr val="C89B63"/>
          </a:solidFill>
          <a:ln/>
        </p:spPr>
      </p:sp>
      <p:sp>
        <p:nvSpPr>
          <p:cNvPr id="14" name="Text 11"/>
          <p:cNvSpPr/>
          <p:nvPr/>
        </p:nvSpPr>
        <p:spPr>
          <a:xfrm>
            <a:off x="9286874" y="2824622"/>
            <a:ext cx="3939072" cy="82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900" b="1" dirty="0">
                <a:solidFill>
                  <a:srgbClr val="A87B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6900" dirty="0"/>
          </a:p>
        </p:txBody>
      </p:sp>
      <p:sp>
        <p:nvSpPr>
          <p:cNvPr id="15" name="Text 12"/>
          <p:cNvSpPr/>
          <p:nvPr/>
        </p:nvSpPr>
        <p:spPr>
          <a:xfrm>
            <a:off x="9286874" y="3784699"/>
            <a:ext cx="39390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4B0F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cook only what is ordered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9286874" y="4813372"/>
            <a:ext cx="3939072" cy="724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excess. Every meal is accounted for before the first vegetable is cut.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3396966" y="2551049"/>
            <a:ext cx="3824342" cy="25977"/>
          </a:xfrm>
          <a:prstGeom prst="rect">
            <a:avLst/>
          </a:prstGeom>
          <a:solidFill>
            <a:srgbClr val="C89B63"/>
          </a:solidFill>
          <a:ln/>
        </p:spPr>
      </p:sp>
      <p:sp>
        <p:nvSpPr>
          <p:cNvPr id="18" name="Text 15"/>
          <p:cNvSpPr/>
          <p:nvPr/>
        </p:nvSpPr>
        <p:spPr>
          <a:xfrm>
            <a:off x="13396966" y="2824622"/>
            <a:ext cx="3939072" cy="82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900" b="1" dirty="0">
                <a:solidFill>
                  <a:srgbClr val="A87B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6900" dirty="0"/>
          </a:p>
        </p:txBody>
      </p:sp>
      <p:sp>
        <p:nvSpPr>
          <p:cNvPr id="19" name="Text 16"/>
          <p:cNvSpPr/>
          <p:nvPr/>
        </p:nvSpPr>
        <p:spPr>
          <a:xfrm>
            <a:off x="13396966" y="3784699"/>
            <a:ext cx="39390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4B0F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Delivered fresh the next morning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3396966" y="4813372"/>
            <a:ext cx="3939072" cy="724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By our own delivery team, tracked in real time.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66692" y="8446266"/>
            <a:ext cx="2529293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GUARANTEE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3748304" y="8584000"/>
            <a:ext cx="13473003" cy="18942"/>
          </a:xfrm>
          <a:prstGeom prst="rect">
            <a:avLst/>
          </a:prstGeom>
          <a:solidFill>
            <a:srgbClr val="C89B63"/>
          </a:solidFill>
          <a:ln/>
        </p:spPr>
      </p:sp>
      <p:sp>
        <p:nvSpPr>
          <p:cNvPr id="23" name="Text 20"/>
          <p:cNvSpPr/>
          <p:nvPr/>
        </p:nvSpPr>
        <p:spPr>
          <a:xfrm>
            <a:off x="1066692" y="8950117"/>
            <a:ext cx="16639255" cy="574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i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"If you ordered it, it was made for you today."</a:t>
            </a:r>
            <a:endParaRPr lang="en-US" sz="3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92" y="857250"/>
            <a:ext cx="389524" cy="3237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8561" y="871862"/>
            <a:ext cx="4535381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68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MAKES US DIFFERENT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66692" y="1352442"/>
            <a:ext cx="16639255" cy="684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This Is Not Another Food Delivery App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7851631" y="3497461"/>
            <a:ext cx="3377180" cy="671891"/>
          </a:xfrm>
          <a:prstGeom prst="roundRect">
            <a:avLst>
              <a:gd name="adj" fmla="val 19847"/>
            </a:avLst>
          </a:prstGeom>
          <a:solidFill>
            <a:srgbClr val="4B0F16"/>
          </a:solidFill>
          <a:ln/>
        </p:spPr>
      </p:sp>
      <p:sp>
        <p:nvSpPr>
          <p:cNvPr id="6" name="Text 3"/>
          <p:cNvSpPr/>
          <p:nvPr/>
        </p:nvSpPr>
        <p:spPr>
          <a:xfrm>
            <a:off x="7953373" y="3668911"/>
            <a:ext cx="3173696" cy="367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5F1E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Brahma Kalasha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1342580" y="3668911"/>
            <a:ext cx="2347865" cy="367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72" kern="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Restaurants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905358" y="3668911"/>
            <a:ext cx="3214807" cy="367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72" kern="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Aggregator Apps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66692" y="4844761"/>
            <a:ext cx="6784939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10" name="Text 7"/>
          <p:cNvSpPr/>
          <p:nvPr/>
        </p:nvSpPr>
        <p:spPr>
          <a:xfrm>
            <a:off x="1066692" y="4359852"/>
            <a:ext cx="674083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0F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100% vegetarian, always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851631" y="4169352"/>
            <a:ext cx="3377180" cy="684068"/>
          </a:xfrm>
          <a:prstGeom prst="rect">
            <a:avLst/>
          </a:prstGeom>
          <a:solidFill>
            <a:srgbClr val="4B0F16">
              <a:alpha val="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851631" y="4844761"/>
            <a:ext cx="3377180" cy="9525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851631" y="4169352"/>
            <a:ext cx="9525" cy="684068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1220152" y="4169352"/>
            <a:ext cx="9525" cy="684068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8336" y="4348622"/>
            <a:ext cx="323769" cy="32376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1228811" y="4844761"/>
            <a:ext cx="2575403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17" name="Text 13"/>
          <p:cNvSpPr/>
          <p:nvPr/>
        </p:nvSpPr>
        <p:spPr>
          <a:xfrm>
            <a:off x="11199705" y="4178877"/>
            <a:ext cx="2633615" cy="694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Rarely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3804214" y="4844761"/>
            <a:ext cx="3417094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19" name="Text 15"/>
          <p:cNvSpPr/>
          <p:nvPr/>
        </p:nvSpPr>
        <p:spPr>
          <a:xfrm>
            <a:off x="13762483" y="4178877"/>
            <a:ext cx="3500557" cy="694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Never guaranteed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066692" y="5528829"/>
            <a:ext cx="6784939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21" name="Text 17"/>
          <p:cNvSpPr/>
          <p:nvPr/>
        </p:nvSpPr>
        <p:spPr>
          <a:xfrm>
            <a:off x="1066692" y="5043920"/>
            <a:ext cx="674083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0F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Freshly prepared the same day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7851631" y="4853420"/>
            <a:ext cx="3377180" cy="684068"/>
          </a:xfrm>
          <a:prstGeom prst="rect">
            <a:avLst/>
          </a:prstGeom>
          <a:solidFill>
            <a:srgbClr val="4B0F16">
              <a:alpha val="5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7851631" y="5528829"/>
            <a:ext cx="3377180" cy="9525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7851631" y="4853420"/>
            <a:ext cx="9525" cy="684068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11220152" y="4853420"/>
            <a:ext cx="9525" cy="684068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336" y="5032690"/>
            <a:ext cx="323769" cy="323769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1228811" y="5528829"/>
            <a:ext cx="2575403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28" name="Text 23"/>
          <p:cNvSpPr/>
          <p:nvPr/>
        </p:nvSpPr>
        <p:spPr>
          <a:xfrm>
            <a:off x="11199705" y="4862945"/>
            <a:ext cx="2633615" cy="694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Sometimes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13804214" y="5528829"/>
            <a:ext cx="3417094" cy="9525"/>
          </a:xfrm>
          <a:prstGeom prst="rect">
            <a:avLst/>
          </a:prstGeom>
          <a:solidFill>
            <a:srgbClr val="E3D8C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15388963" y="5088975"/>
            <a:ext cx="247596" cy="247596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1066692" y="6212897"/>
            <a:ext cx="6784939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32" name="Text 26"/>
          <p:cNvSpPr/>
          <p:nvPr/>
        </p:nvSpPr>
        <p:spPr>
          <a:xfrm>
            <a:off x="1066692" y="5727988"/>
            <a:ext cx="674083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0F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Zero food-waste model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7851631" y="5537488"/>
            <a:ext cx="3377180" cy="684068"/>
          </a:xfrm>
          <a:prstGeom prst="rect">
            <a:avLst/>
          </a:prstGeom>
          <a:solidFill>
            <a:srgbClr val="4B0F16">
              <a:alpha val="5000"/>
            </a:srgbClr>
          </a:solidFill>
          <a:ln/>
        </p:spPr>
      </p:sp>
      <p:sp>
        <p:nvSpPr>
          <p:cNvPr id="34" name="Shape 28"/>
          <p:cNvSpPr/>
          <p:nvPr/>
        </p:nvSpPr>
        <p:spPr>
          <a:xfrm>
            <a:off x="7851631" y="6212897"/>
            <a:ext cx="3377180" cy="9525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sp>
        <p:nvSpPr>
          <p:cNvPr id="35" name="Shape 29"/>
          <p:cNvSpPr/>
          <p:nvPr/>
        </p:nvSpPr>
        <p:spPr>
          <a:xfrm>
            <a:off x="7851631" y="5537488"/>
            <a:ext cx="9525" cy="684068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sp>
        <p:nvSpPr>
          <p:cNvPr id="36" name="Shape 30"/>
          <p:cNvSpPr/>
          <p:nvPr/>
        </p:nvSpPr>
        <p:spPr>
          <a:xfrm>
            <a:off x="11220152" y="5537488"/>
            <a:ext cx="9525" cy="684068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8336" y="5716759"/>
            <a:ext cx="323769" cy="323769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11228811" y="6212897"/>
            <a:ext cx="2575403" cy="9525"/>
          </a:xfrm>
          <a:prstGeom prst="rect">
            <a:avLst/>
          </a:prstGeom>
          <a:solidFill>
            <a:srgbClr val="E3D8CB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>
            <a:alphaModFix amt="55000"/>
          </a:blip>
          <a:stretch>
            <a:fillRect/>
          </a:stretch>
        </p:blipFill>
        <p:spPr>
          <a:xfrm>
            <a:off x="12392647" y="5773043"/>
            <a:ext cx="247596" cy="247596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13804214" y="6212897"/>
            <a:ext cx="3417094" cy="9525"/>
          </a:xfrm>
          <a:prstGeom prst="rect">
            <a:avLst/>
          </a:prstGeom>
          <a:solidFill>
            <a:srgbClr val="E3D8CB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>
            <a:alphaModFix amt="55000"/>
          </a:blip>
          <a:stretch>
            <a:fillRect/>
          </a:stretch>
        </p:blipFill>
        <p:spPr>
          <a:xfrm>
            <a:off x="15388963" y="5773043"/>
            <a:ext cx="247596" cy="247596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1066692" y="6896966"/>
            <a:ext cx="6784939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43" name="Text 34"/>
          <p:cNvSpPr/>
          <p:nvPr/>
        </p:nvSpPr>
        <p:spPr>
          <a:xfrm>
            <a:off x="1066692" y="6412057"/>
            <a:ext cx="674083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0F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Own delivery team</a:t>
            </a:r>
            <a:endParaRPr lang="en-US" sz="1800" dirty="0"/>
          </a:p>
        </p:txBody>
      </p:sp>
      <p:sp>
        <p:nvSpPr>
          <p:cNvPr id="44" name="Shape 35"/>
          <p:cNvSpPr/>
          <p:nvPr/>
        </p:nvSpPr>
        <p:spPr>
          <a:xfrm>
            <a:off x="7851631" y="6221557"/>
            <a:ext cx="3377180" cy="684068"/>
          </a:xfrm>
          <a:prstGeom prst="rect">
            <a:avLst/>
          </a:prstGeom>
          <a:solidFill>
            <a:srgbClr val="4B0F16">
              <a:alpha val="5000"/>
            </a:srgbClr>
          </a:solidFill>
          <a:ln/>
        </p:spPr>
      </p:sp>
      <p:sp>
        <p:nvSpPr>
          <p:cNvPr id="45" name="Shape 36"/>
          <p:cNvSpPr/>
          <p:nvPr/>
        </p:nvSpPr>
        <p:spPr>
          <a:xfrm>
            <a:off x="7851631" y="6896966"/>
            <a:ext cx="3377180" cy="9525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sp>
        <p:nvSpPr>
          <p:cNvPr id="46" name="Shape 37"/>
          <p:cNvSpPr/>
          <p:nvPr/>
        </p:nvSpPr>
        <p:spPr>
          <a:xfrm>
            <a:off x="7851631" y="6221557"/>
            <a:ext cx="9525" cy="684068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sp>
        <p:nvSpPr>
          <p:cNvPr id="47" name="Shape 38"/>
          <p:cNvSpPr/>
          <p:nvPr/>
        </p:nvSpPr>
        <p:spPr>
          <a:xfrm>
            <a:off x="11220152" y="6221557"/>
            <a:ext cx="9525" cy="684068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8336" y="6400827"/>
            <a:ext cx="323769" cy="323769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11228811" y="6896966"/>
            <a:ext cx="2575403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50" name="Text 40"/>
          <p:cNvSpPr/>
          <p:nvPr/>
        </p:nvSpPr>
        <p:spPr>
          <a:xfrm>
            <a:off x="11199705" y="6231082"/>
            <a:ext cx="2633615" cy="694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Sometimes</a:t>
            </a:r>
            <a:endParaRPr lang="en-US" sz="1800" dirty="0"/>
          </a:p>
        </p:txBody>
      </p:sp>
      <p:sp>
        <p:nvSpPr>
          <p:cNvPr id="51" name="Shape 41"/>
          <p:cNvSpPr/>
          <p:nvPr/>
        </p:nvSpPr>
        <p:spPr>
          <a:xfrm>
            <a:off x="13804214" y="6896966"/>
            <a:ext cx="3417094" cy="9525"/>
          </a:xfrm>
          <a:prstGeom prst="rect">
            <a:avLst/>
          </a:prstGeom>
          <a:solidFill>
            <a:srgbClr val="E3D8CB"/>
          </a:solidFill>
          <a:ln/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>
            <a:alphaModFix amt="55000"/>
          </a:blip>
          <a:stretch>
            <a:fillRect/>
          </a:stretch>
        </p:blipFill>
        <p:spPr>
          <a:xfrm>
            <a:off x="15388963" y="6457111"/>
            <a:ext cx="247596" cy="247596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1066692" y="7581034"/>
            <a:ext cx="6784939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54" name="Text 43"/>
          <p:cNvSpPr/>
          <p:nvPr/>
        </p:nvSpPr>
        <p:spPr>
          <a:xfrm>
            <a:off x="1066692" y="7096125"/>
            <a:ext cx="674083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0F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 know exactly what you get</a:t>
            </a:r>
            <a:endParaRPr lang="en-US" sz="1800" dirty="0"/>
          </a:p>
        </p:txBody>
      </p:sp>
      <p:sp>
        <p:nvSpPr>
          <p:cNvPr id="55" name="Shape 44"/>
          <p:cNvSpPr/>
          <p:nvPr/>
        </p:nvSpPr>
        <p:spPr>
          <a:xfrm>
            <a:off x="7851631" y="6905625"/>
            <a:ext cx="3377180" cy="684068"/>
          </a:xfrm>
          <a:prstGeom prst="rect">
            <a:avLst/>
          </a:prstGeom>
          <a:solidFill>
            <a:srgbClr val="4B0F16">
              <a:alpha val="5000"/>
            </a:srgbClr>
          </a:solidFill>
          <a:ln/>
        </p:spPr>
      </p:sp>
      <p:sp>
        <p:nvSpPr>
          <p:cNvPr id="56" name="Shape 45"/>
          <p:cNvSpPr/>
          <p:nvPr/>
        </p:nvSpPr>
        <p:spPr>
          <a:xfrm>
            <a:off x="7851631" y="7581034"/>
            <a:ext cx="3377180" cy="9525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sp>
        <p:nvSpPr>
          <p:cNvPr id="57" name="Shape 46"/>
          <p:cNvSpPr/>
          <p:nvPr/>
        </p:nvSpPr>
        <p:spPr>
          <a:xfrm>
            <a:off x="7851631" y="6905625"/>
            <a:ext cx="9525" cy="684068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sp>
        <p:nvSpPr>
          <p:cNvPr id="58" name="Shape 47"/>
          <p:cNvSpPr/>
          <p:nvPr/>
        </p:nvSpPr>
        <p:spPr>
          <a:xfrm>
            <a:off x="11220152" y="6905625"/>
            <a:ext cx="9525" cy="684068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8336" y="7084895"/>
            <a:ext cx="323769" cy="323769"/>
          </a:xfrm>
          <a:prstGeom prst="rect">
            <a:avLst/>
          </a:prstGeom>
        </p:spPr>
      </p:pic>
      <p:sp>
        <p:nvSpPr>
          <p:cNvPr id="60" name="Shape 48"/>
          <p:cNvSpPr/>
          <p:nvPr/>
        </p:nvSpPr>
        <p:spPr>
          <a:xfrm>
            <a:off x="11228811" y="7581034"/>
            <a:ext cx="2575403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61" name="Text 49"/>
          <p:cNvSpPr/>
          <p:nvPr/>
        </p:nvSpPr>
        <p:spPr>
          <a:xfrm>
            <a:off x="11199705" y="6915150"/>
            <a:ext cx="2633615" cy="694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Inconsistent</a:t>
            </a:r>
            <a:endParaRPr lang="en-US" sz="1800" dirty="0"/>
          </a:p>
        </p:txBody>
      </p:sp>
      <p:sp>
        <p:nvSpPr>
          <p:cNvPr id="62" name="Shape 50"/>
          <p:cNvSpPr/>
          <p:nvPr/>
        </p:nvSpPr>
        <p:spPr>
          <a:xfrm>
            <a:off x="13804214" y="7581034"/>
            <a:ext cx="3417094" cy="9525"/>
          </a:xfrm>
          <a:prstGeom prst="rect">
            <a:avLst/>
          </a:prstGeom>
          <a:solidFill>
            <a:srgbClr val="E3D8CB"/>
          </a:solidFill>
          <a:ln/>
        </p:spPr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1">
            <a:alphaModFix amt="55000"/>
          </a:blip>
          <a:stretch>
            <a:fillRect/>
          </a:stretch>
        </p:blipFill>
        <p:spPr>
          <a:xfrm>
            <a:off x="15388963" y="7141179"/>
            <a:ext cx="247596" cy="247596"/>
          </a:xfrm>
          <a:prstGeom prst="rect">
            <a:avLst/>
          </a:prstGeom>
        </p:spPr>
      </p:pic>
      <p:sp>
        <p:nvSpPr>
          <p:cNvPr id="64" name="Shape 51"/>
          <p:cNvSpPr/>
          <p:nvPr/>
        </p:nvSpPr>
        <p:spPr>
          <a:xfrm>
            <a:off x="1066692" y="8265102"/>
            <a:ext cx="6784939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65" name="Text 52"/>
          <p:cNvSpPr/>
          <p:nvPr/>
        </p:nvSpPr>
        <p:spPr>
          <a:xfrm>
            <a:off x="1066692" y="7780193"/>
            <a:ext cx="674083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0F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Pre-order = guaranteed availability</a:t>
            </a:r>
            <a:endParaRPr lang="en-US" sz="1800" dirty="0"/>
          </a:p>
        </p:txBody>
      </p:sp>
      <p:sp>
        <p:nvSpPr>
          <p:cNvPr id="66" name="Shape 53"/>
          <p:cNvSpPr/>
          <p:nvPr/>
        </p:nvSpPr>
        <p:spPr>
          <a:xfrm>
            <a:off x="7851631" y="7589693"/>
            <a:ext cx="3377180" cy="684068"/>
          </a:xfrm>
          <a:prstGeom prst="rect">
            <a:avLst/>
          </a:prstGeom>
          <a:solidFill>
            <a:srgbClr val="4B0F16">
              <a:alpha val="5000"/>
            </a:srgbClr>
          </a:solidFill>
          <a:ln/>
        </p:spPr>
      </p:sp>
      <p:sp>
        <p:nvSpPr>
          <p:cNvPr id="67" name="Shape 54"/>
          <p:cNvSpPr/>
          <p:nvPr/>
        </p:nvSpPr>
        <p:spPr>
          <a:xfrm>
            <a:off x="7851631" y="8265102"/>
            <a:ext cx="3377180" cy="9525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sp>
        <p:nvSpPr>
          <p:cNvPr id="68" name="Shape 55"/>
          <p:cNvSpPr/>
          <p:nvPr/>
        </p:nvSpPr>
        <p:spPr>
          <a:xfrm>
            <a:off x="7851631" y="7589693"/>
            <a:ext cx="9525" cy="684068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sp>
        <p:nvSpPr>
          <p:cNvPr id="69" name="Shape 56"/>
          <p:cNvSpPr/>
          <p:nvPr/>
        </p:nvSpPr>
        <p:spPr>
          <a:xfrm>
            <a:off x="11220152" y="7589693"/>
            <a:ext cx="9525" cy="684068"/>
          </a:xfrm>
          <a:prstGeom prst="rect">
            <a:avLst/>
          </a:prstGeom>
          <a:solidFill>
            <a:srgbClr val="4B0F16">
              <a:alpha val="10000"/>
            </a:srgbClr>
          </a:solidFill>
          <a:ln/>
        </p:spPr>
      </p:sp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8336" y="7768963"/>
            <a:ext cx="323769" cy="323769"/>
          </a:xfrm>
          <a:prstGeom prst="rect">
            <a:avLst/>
          </a:prstGeom>
        </p:spPr>
      </p:pic>
      <p:sp>
        <p:nvSpPr>
          <p:cNvPr id="71" name="Shape 57"/>
          <p:cNvSpPr/>
          <p:nvPr/>
        </p:nvSpPr>
        <p:spPr>
          <a:xfrm>
            <a:off x="11228811" y="8265102"/>
            <a:ext cx="2575403" cy="9525"/>
          </a:xfrm>
          <a:prstGeom prst="rect">
            <a:avLst/>
          </a:prstGeom>
          <a:solidFill>
            <a:srgbClr val="E3D8CB"/>
          </a:solidFill>
          <a:ln/>
        </p:spPr>
      </p:sp>
      <p:pic>
        <p:nvPicPr>
          <p:cNvPr id="72" name="Image 12" descr="preencoded.png">    </p:cNvPr>
          <p:cNvPicPr>
            <a:picLocks noChangeAspect="1"/>
          </p:cNvPicPr>
          <p:nvPr/>
        </p:nvPicPr>
        <p:blipFill>
          <a:blip r:embed="rId13">
            <a:alphaModFix amt="55000"/>
          </a:blip>
          <a:stretch>
            <a:fillRect/>
          </a:stretch>
        </p:blipFill>
        <p:spPr>
          <a:xfrm>
            <a:off x="12392647" y="7825247"/>
            <a:ext cx="247596" cy="247596"/>
          </a:xfrm>
          <a:prstGeom prst="rect">
            <a:avLst/>
          </a:prstGeom>
        </p:spPr>
      </p:pic>
      <p:sp>
        <p:nvSpPr>
          <p:cNvPr id="73" name="Shape 58"/>
          <p:cNvSpPr/>
          <p:nvPr/>
        </p:nvSpPr>
        <p:spPr>
          <a:xfrm>
            <a:off x="13804214" y="8265102"/>
            <a:ext cx="3417094" cy="9525"/>
          </a:xfrm>
          <a:prstGeom prst="rect">
            <a:avLst/>
          </a:prstGeom>
          <a:solidFill>
            <a:srgbClr val="E3D8CB"/>
          </a:solidFill>
          <a:ln/>
        </p:spPr>
      </p:sp>
      <p:pic>
        <p:nvPicPr>
          <p:cNvPr id="74" name="Image 13" descr="preencoded.png">    </p:cNvPr>
          <p:cNvPicPr>
            <a:picLocks noChangeAspect="1"/>
          </p:cNvPicPr>
          <p:nvPr/>
        </p:nvPicPr>
        <p:blipFill>
          <a:blip r:embed="rId14">
            <a:alphaModFix amt="55000"/>
          </a:blip>
          <a:stretch>
            <a:fillRect/>
          </a:stretch>
        </p:blipFill>
        <p:spPr>
          <a:xfrm>
            <a:off x="15388963" y="7825247"/>
            <a:ext cx="247596" cy="2475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C89B63">
              <a:alpha val="1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92" y="857250"/>
            <a:ext cx="389524" cy="3237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8561" y="871862"/>
            <a:ext cx="241523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68" kern="0" dirty="0">
                <a:solidFill>
                  <a:srgbClr val="C89B6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PLATFORM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66692" y="1352442"/>
            <a:ext cx="16639255" cy="684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F5F1E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Enterprise-Grade Technology, Built and Owned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1066692" y="2398568"/>
            <a:ext cx="7886808" cy="2664429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8659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70601" y="2502477"/>
            <a:ext cx="7678990" cy="24566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6692" y="5215343"/>
            <a:ext cx="8123412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1E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Admin Dashboard </a:t>
            </a:r>
            <a:pPr algn="l" indent="0" marL="0">
              <a:buNone/>
            </a:pPr>
            <a:r>
              <a:rPr lang="en-US" sz="1800" dirty="0">
                <a:solidFill>
                  <a:srgbClr val="F5F1EC">
                    <a:alpha val="70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· Publish menus, set limits, view analytics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9334499" y="2398568"/>
            <a:ext cx="7886808" cy="2664429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8659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2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38409" y="2502477"/>
            <a:ext cx="7678990" cy="245661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34499" y="5215343"/>
            <a:ext cx="8123412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1E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Kitchen KDS </a:t>
            </a:r>
            <a:pPr algn="l" indent="0" marL="0">
              <a:buNone/>
            </a:pPr>
            <a:r>
              <a:rPr lang="en-US" sz="1800" dirty="0">
                <a:solidFill>
                  <a:srgbClr val="F5F1EC">
                    <a:alpha val="70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· Exact quantities, production flow, print sheets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1066692" y="5795502"/>
            <a:ext cx="7886808" cy="2664564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8659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2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70601" y="5899411"/>
            <a:ext cx="7678990" cy="24567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66692" y="8612413"/>
            <a:ext cx="8123412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1E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App </a:t>
            </a:r>
            <a:pPr algn="l" indent="0" marL="0">
              <a:buNone/>
            </a:pPr>
            <a:r>
              <a:rPr lang="en-US" sz="1800" dirty="0">
                <a:solidFill>
                  <a:srgbClr val="F5F1EC">
                    <a:alpha val="70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· Browse, order before cutoff, track delivery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9334499" y="5795502"/>
            <a:ext cx="7886808" cy="2664564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8659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2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38409" y="5899411"/>
            <a:ext cx="7678990" cy="245674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334499" y="8612413"/>
            <a:ext cx="8123412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1E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Delivery App </a:t>
            </a:r>
            <a:pPr algn="l" indent="0" marL="0">
              <a:buNone/>
            </a:pPr>
            <a:r>
              <a:rPr lang="en-US" sz="1800" dirty="0">
                <a:solidFill>
                  <a:srgbClr val="F5F1EC">
                    <a:alpha val="70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· Assigned drops, status updates, payment collection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1066692" y="9192572"/>
            <a:ext cx="16639255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C89B6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All four platforms are live, tested, and operational — no development cost pending.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92" y="857250"/>
            <a:ext cx="389524" cy="3237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8561" y="871862"/>
            <a:ext cx="1707492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68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OUR MENU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66692" y="1352442"/>
            <a:ext cx="16639255" cy="684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Rooted in Tradition. </a:t>
            </a:r>
            <a:pPr algn="l" indent="0" marL="0">
              <a:lnSpc>
                <a:spcPct val="106000"/>
              </a:lnSpc>
              <a:buNone/>
            </a:pPr>
            <a:r>
              <a:rPr lang="en-US" sz="4800" b="1" i="1" spc="-48" kern="0" dirty="0">
                <a:solidFill>
                  <a:srgbClr val="A87B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Designed for Today.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6446422" y="2417645"/>
            <a:ext cx="17318" cy="741976"/>
          </a:xfrm>
          <a:prstGeom prst="rect">
            <a:avLst/>
          </a:prstGeom>
          <a:solidFill>
            <a:srgbClr val="C89B63"/>
          </a:solidFill>
          <a:ln/>
        </p:spPr>
      </p:sp>
      <p:sp>
        <p:nvSpPr>
          <p:cNvPr id="6" name="Text 3"/>
          <p:cNvSpPr/>
          <p:nvPr/>
        </p:nvSpPr>
        <p:spPr>
          <a:xfrm>
            <a:off x="6654240" y="2417645"/>
            <a:ext cx="50897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South Indian Tiffins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654240" y="2865212"/>
            <a:ext cx="5089745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Idli · Dosa · Pongal · Upma · Vada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2071990" y="2417645"/>
            <a:ext cx="17318" cy="741976"/>
          </a:xfrm>
          <a:prstGeom prst="rect">
            <a:avLst/>
          </a:prstGeom>
          <a:solidFill>
            <a:srgbClr val="C89B63"/>
          </a:solidFill>
          <a:ln/>
        </p:spPr>
      </p:sp>
      <p:sp>
        <p:nvSpPr>
          <p:cNvPr id="9" name="Text 6"/>
          <p:cNvSpPr/>
          <p:nvPr/>
        </p:nvSpPr>
        <p:spPr>
          <a:xfrm>
            <a:off x="12279809" y="2417645"/>
            <a:ext cx="50897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South Indian Veg Lunches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2279809" y="2865212"/>
            <a:ext cx="5089745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Full meals · Sambar · Rasam · Rice · Curries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46422" y="3445371"/>
            <a:ext cx="17318" cy="741976"/>
          </a:xfrm>
          <a:prstGeom prst="rect">
            <a:avLst/>
          </a:prstGeom>
          <a:solidFill>
            <a:srgbClr val="C89B63"/>
          </a:solidFill>
          <a:ln/>
        </p:spPr>
      </p:sp>
      <p:sp>
        <p:nvSpPr>
          <p:cNvPr id="12" name="Text 9"/>
          <p:cNvSpPr/>
          <p:nvPr/>
        </p:nvSpPr>
        <p:spPr>
          <a:xfrm>
            <a:off x="6654240" y="3445371"/>
            <a:ext cx="50897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Indian Veg Chaats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6654240" y="3892938"/>
            <a:ext cx="5089745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Bhel · Pani Puri · Sundal · Sprout bowls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2071990" y="3445371"/>
            <a:ext cx="17318" cy="741976"/>
          </a:xfrm>
          <a:prstGeom prst="rect">
            <a:avLst/>
          </a:prstGeom>
          <a:solidFill>
            <a:srgbClr val="C89B63"/>
          </a:solidFill>
          <a:ln/>
        </p:spPr>
      </p:sp>
      <p:sp>
        <p:nvSpPr>
          <p:cNvPr id="15" name="Text 12"/>
          <p:cNvSpPr/>
          <p:nvPr/>
        </p:nvSpPr>
        <p:spPr>
          <a:xfrm>
            <a:off x="12279809" y="3445371"/>
            <a:ext cx="50897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Indian Sweets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2279809" y="3892938"/>
            <a:ext cx="5089745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Halwa · Payasam · Ladoo · Seasonal specials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446422" y="4473097"/>
            <a:ext cx="17318" cy="741976"/>
          </a:xfrm>
          <a:prstGeom prst="rect">
            <a:avLst/>
          </a:prstGeom>
          <a:solidFill>
            <a:srgbClr val="C89B63"/>
          </a:solidFill>
          <a:ln/>
        </p:spPr>
      </p:sp>
      <p:sp>
        <p:nvSpPr>
          <p:cNvPr id="18" name="Text 15"/>
          <p:cNvSpPr/>
          <p:nvPr/>
        </p:nvSpPr>
        <p:spPr>
          <a:xfrm>
            <a:off x="6654240" y="4473097"/>
            <a:ext cx="50897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Healthy Specials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6654240" y="4920664"/>
            <a:ext cx="5089745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Millets · Grain bowls · Low-oil options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2071990" y="4473097"/>
            <a:ext cx="17318" cy="741976"/>
          </a:xfrm>
          <a:prstGeom prst="rect">
            <a:avLst/>
          </a:prstGeom>
          <a:solidFill>
            <a:srgbClr val="C89B63"/>
          </a:solidFill>
          <a:ln/>
        </p:spPr>
      </p:sp>
      <p:sp>
        <p:nvSpPr>
          <p:cNvPr id="21" name="Text 18"/>
          <p:cNvSpPr/>
          <p:nvPr/>
        </p:nvSpPr>
        <p:spPr>
          <a:xfrm>
            <a:off x="12279809" y="4473097"/>
            <a:ext cx="50897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Seasonal Specials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12279809" y="4920664"/>
            <a:ext cx="5089745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Festival menus · Regional rotating dishes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446422" y="8687097"/>
            <a:ext cx="11098132" cy="83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Small, curated, rotating. Customers trust what we offer — because we offer only what we do best.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92" y="857250"/>
            <a:ext cx="389524" cy="3237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8561" y="871862"/>
            <a:ext cx="2498716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68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WHO WE SERVE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66692" y="1352442"/>
            <a:ext cx="16639255" cy="684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Loyal, Recurring Customer Base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066692" y="2436722"/>
            <a:ext cx="8393904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WHO ORDERS FROM US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066692" y="3077766"/>
            <a:ext cx="104721" cy="104721"/>
          </a:xfrm>
          <a:prstGeom prst="ellipse">
            <a:avLst/>
          </a:prstGeom>
          <a:solidFill>
            <a:srgbClr val="A87B45"/>
          </a:solidFill>
          <a:ln/>
        </p:spPr>
      </p:sp>
      <p:sp>
        <p:nvSpPr>
          <p:cNvPr id="7" name="Text 4"/>
          <p:cNvSpPr/>
          <p:nvPr/>
        </p:nvSpPr>
        <p:spPr>
          <a:xfrm>
            <a:off x="1342835" y="2978727"/>
            <a:ext cx="777808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Working professionals aged 25–50 who eat vegetarian daily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66692" y="3715832"/>
            <a:ext cx="104721" cy="104721"/>
          </a:xfrm>
          <a:prstGeom prst="ellipse">
            <a:avLst/>
          </a:prstGeom>
          <a:solidFill>
            <a:srgbClr val="A87B45"/>
          </a:solidFill>
          <a:ln/>
        </p:spPr>
      </p:sp>
      <p:sp>
        <p:nvSpPr>
          <p:cNvPr id="9" name="Text 6"/>
          <p:cNvSpPr/>
          <p:nvPr/>
        </p:nvSpPr>
        <p:spPr>
          <a:xfrm>
            <a:off x="1342835" y="3616794"/>
            <a:ext cx="810947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Families wanting reliable home-style food without the daily cooking burden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066692" y="4782524"/>
            <a:ext cx="104721" cy="104721"/>
          </a:xfrm>
          <a:prstGeom prst="ellipse">
            <a:avLst/>
          </a:prstGeom>
          <a:solidFill>
            <a:srgbClr val="A87B45"/>
          </a:solidFill>
          <a:ln/>
        </p:spPr>
      </p:sp>
      <p:sp>
        <p:nvSpPr>
          <p:cNvPr id="11" name="Text 8"/>
          <p:cNvSpPr/>
          <p:nvPr/>
        </p:nvSpPr>
        <p:spPr>
          <a:xfrm>
            <a:off x="1342835" y="4683486"/>
            <a:ext cx="680955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Senior citizens seeking clean, light, traditional meals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66692" y="5420591"/>
            <a:ext cx="104721" cy="104721"/>
          </a:xfrm>
          <a:prstGeom prst="ellipse">
            <a:avLst/>
          </a:prstGeom>
          <a:solidFill>
            <a:srgbClr val="A8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1342835" y="5321553"/>
            <a:ext cx="810947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Health-conscious individuals tracking nutrition and ingredients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1066692" y="6487283"/>
            <a:ext cx="104721" cy="104721"/>
          </a:xfrm>
          <a:prstGeom prst="ellipse">
            <a:avLst/>
          </a:prstGeom>
          <a:solidFill>
            <a:srgbClr val="A87B45"/>
          </a:solidFill>
          <a:ln/>
        </p:spPr>
      </p:sp>
      <p:sp>
        <p:nvSpPr>
          <p:cNvPr id="15" name="Text 12"/>
          <p:cNvSpPr/>
          <p:nvPr/>
        </p:nvSpPr>
        <p:spPr>
          <a:xfrm>
            <a:off x="1342835" y="6388244"/>
            <a:ext cx="68434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Office groups and small teams arranging daily meals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9825633" y="2436722"/>
            <a:ext cx="7395675" cy="7050259"/>
          </a:xfrm>
          <a:prstGeom prst="roundRect">
            <a:avLst>
              <a:gd name="adj" fmla="val 2432"/>
            </a:avLst>
          </a:prstGeom>
          <a:solidFill>
            <a:srgbClr val="4B0F16"/>
          </a:solidFill>
          <a:ln/>
        </p:spPr>
      </p:sp>
      <p:sp>
        <p:nvSpPr>
          <p:cNvPr id="17" name="Text 14"/>
          <p:cNvSpPr/>
          <p:nvPr/>
        </p:nvSpPr>
        <p:spPr>
          <a:xfrm>
            <a:off x="10263728" y="4253508"/>
            <a:ext cx="671506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C89B6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WHY THEY STAY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263728" y="4776435"/>
            <a:ext cx="6715068" cy="1398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F5F1E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Vegetarian food is not a trend for our customers — it is a daily necessity tied to culture, health, and belief.</a:t>
            </a:r>
            <a:endParaRPr lang="en-US" sz="2550" dirty="0"/>
          </a:p>
        </p:txBody>
      </p:sp>
      <p:sp>
        <p:nvSpPr>
          <p:cNvPr id="19" name="Text 16"/>
          <p:cNvSpPr/>
          <p:nvPr/>
        </p:nvSpPr>
        <p:spPr>
          <a:xfrm>
            <a:off x="10263728" y="6384185"/>
            <a:ext cx="6715068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Once trust is earned, customers return every single day. This is a recurring, high-retention base by its very nature.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92" y="857250"/>
            <a:ext cx="389524" cy="3237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8561" y="871862"/>
            <a:ext cx="277334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68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BUSINESS MODEL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66692" y="1352442"/>
            <a:ext cx="16639255" cy="684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Simple, Lean, and Built to Scale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1066692" y="2436722"/>
            <a:ext cx="5194372" cy="2844917"/>
          </a:xfrm>
          <a:prstGeom prst="roundRect">
            <a:avLst>
              <a:gd name="adj" fmla="val 6027"/>
            </a:avLst>
          </a:prstGeom>
          <a:solidFill>
            <a:srgbClr val="FBF8F4"/>
          </a:solidFill>
          <a:ln w="8659">
            <a:solidFill>
              <a:srgbClr val="E3D8C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80043" y="2769150"/>
            <a:ext cx="4704700" cy="380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dirty="0">
                <a:solidFill>
                  <a:srgbClr val="A87B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380043" y="3245265"/>
            <a:ext cx="4704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Daily Pre-Orders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380043" y="3759534"/>
            <a:ext cx="4704700" cy="724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Customers pay at the time of ordering. Revenue arrives before food is prepared.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546814" y="2436722"/>
            <a:ext cx="5194372" cy="2844917"/>
          </a:xfrm>
          <a:prstGeom prst="roundRect">
            <a:avLst>
              <a:gd name="adj" fmla="val 6027"/>
            </a:avLst>
          </a:prstGeom>
          <a:solidFill>
            <a:srgbClr val="FBF8F4"/>
          </a:solidFill>
          <a:ln w="8659">
            <a:solidFill>
              <a:srgbClr val="E3D8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60164" y="2769150"/>
            <a:ext cx="4704700" cy="380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dirty="0">
                <a:solidFill>
                  <a:srgbClr val="A87B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860164" y="3245265"/>
            <a:ext cx="327015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Weekly &amp; Monthly Plans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6860164" y="3759534"/>
            <a:ext cx="1321864" cy="370447"/>
          </a:xfrm>
          <a:prstGeom prst="roundRect">
            <a:avLst>
              <a:gd name="adj" fmla="val 50000"/>
            </a:avLst>
          </a:prstGeom>
          <a:solidFill>
            <a:srgbClr val="C89B63">
              <a:alpha val="16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955414" y="3797634"/>
            <a:ext cx="1207564" cy="332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A623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MONTH 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60164" y="4263249"/>
            <a:ext cx="4704700" cy="724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Customers commit upfront. Predictable, advance-collected revenue.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2026936" y="2436722"/>
            <a:ext cx="5194372" cy="2844917"/>
          </a:xfrm>
          <a:prstGeom prst="roundRect">
            <a:avLst>
              <a:gd name="adj" fmla="val 6027"/>
            </a:avLst>
          </a:prstGeom>
          <a:solidFill>
            <a:srgbClr val="FBF8F4"/>
          </a:solidFill>
          <a:ln w="8659">
            <a:solidFill>
              <a:srgbClr val="E3D8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40286" y="2769150"/>
            <a:ext cx="4704700" cy="380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dirty="0">
                <a:solidFill>
                  <a:srgbClr val="A87B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12340286" y="3245265"/>
            <a:ext cx="4704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Catering &amp; Bulk Orders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2340286" y="3759534"/>
            <a:ext cx="4704700" cy="724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Offices, temples, events and schools — high volume on the same kitchen.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066692" y="6375120"/>
            <a:ext cx="16154616" cy="3111861"/>
          </a:xfrm>
          <a:prstGeom prst="roundRect">
            <a:avLst>
              <a:gd name="adj" fmla="val 5510"/>
            </a:avLst>
          </a:prstGeom>
          <a:solidFill>
            <a:srgbClr val="FBF8F4"/>
          </a:solidFill>
          <a:ln w="8659">
            <a:solidFill>
              <a:srgbClr val="E3D8C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94370" y="6726625"/>
            <a:ext cx="1575823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WHY THE ECONOMICS WORK</a:t>
            </a:r>
            <a:endParaRPr lang="en-US" sz="18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370" y="7276883"/>
            <a:ext cx="323769" cy="32376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70484" y="7249553"/>
            <a:ext cx="711404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Cook only what is ordered — ingredient cost matches revenue exactly</a:t>
            </a:r>
            <a:endParaRPr lang="en-US" sz="22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673" y="7276883"/>
            <a:ext cx="323769" cy="32376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886787" y="7249553"/>
            <a:ext cx="623846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commission paid to any third-party platform</a:t>
            </a:r>
            <a:endParaRPr lang="en-US" sz="22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370" y="8305556"/>
            <a:ext cx="323769" cy="32376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970484" y="8278226"/>
            <a:ext cx="711404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Own delivery team — full control over cost and experience</a:t>
            </a:r>
            <a:endParaRPr lang="en-US" sz="22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0673" y="8305556"/>
            <a:ext cx="323769" cy="32376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86787" y="8278226"/>
            <a:ext cx="711404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Low menu complexity — bulk procurement, lower per-unit cost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92" y="857250"/>
            <a:ext cx="389524" cy="3237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8561" y="871862"/>
            <a:ext cx="223853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68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PROJECTIONS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66692" y="1352442"/>
            <a:ext cx="16639255" cy="684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Conservative Growth, Realistic Milestones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066692" y="2131895"/>
            <a:ext cx="16639255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Figures based on operational estimates — actual performance subject to market conditions.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066692" y="2750073"/>
            <a:ext cx="16154616" cy="637255"/>
          </a:xfrm>
          <a:prstGeom prst="rect">
            <a:avLst/>
          </a:prstGeom>
          <a:solidFill>
            <a:srgbClr val="4B0F16"/>
          </a:solidFill>
          <a:ln/>
        </p:spPr>
      </p:sp>
      <p:sp>
        <p:nvSpPr>
          <p:cNvPr id="7" name="Text 4"/>
          <p:cNvSpPr/>
          <p:nvPr/>
        </p:nvSpPr>
        <p:spPr>
          <a:xfrm>
            <a:off x="1276242" y="2921523"/>
            <a:ext cx="3491543" cy="332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5F1E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Phase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72982" y="2921523"/>
            <a:ext cx="3320691" cy="332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5F1E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Timeline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46551" y="2921523"/>
            <a:ext cx="3515234" cy="332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72" kern="0" dirty="0">
                <a:solidFill>
                  <a:srgbClr val="F5F1E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Daily Orders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449980" y="2921523"/>
            <a:ext cx="4635387" cy="332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72" kern="0" dirty="0">
                <a:solidFill>
                  <a:srgbClr val="F5F1E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Monthly Revenue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66692" y="4161234"/>
            <a:ext cx="3796741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12" name="Text 9"/>
          <p:cNvSpPr/>
          <p:nvPr/>
        </p:nvSpPr>
        <p:spPr>
          <a:xfrm>
            <a:off x="1276242" y="3549253"/>
            <a:ext cx="3491543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Soft Launch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863432" y="4161234"/>
            <a:ext cx="3630865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14" name="Text 11"/>
          <p:cNvSpPr/>
          <p:nvPr/>
        </p:nvSpPr>
        <p:spPr>
          <a:xfrm>
            <a:off x="5018519" y="3549253"/>
            <a:ext cx="3320691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Month 1–2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494297" y="4161234"/>
            <a:ext cx="3819741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16" name="Shape 13"/>
          <p:cNvSpPr/>
          <p:nvPr/>
        </p:nvSpPr>
        <p:spPr>
          <a:xfrm>
            <a:off x="9785043" y="3549145"/>
            <a:ext cx="1238250" cy="381000"/>
          </a:xfrm>
          <a:prstGeom prst="roundRect">
            <a:avLst>
              <a:gd name="adj" fmla="val 20000"/>
            </a:avLst>
          </a:prstGeom>
          <a:solidFill>
            <a:srgbClr val="000000">
              <a:alpha val="2000"/>
            </a:srgbClr>
          </a:solidFill>
          <a:ln w="8659">
            <a:solidFill>
              <a:srgbClr val="E3D8CB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12314039" y="4161234"/>
            <a:ext cx="4907269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18" name="Shape 15"/>
          <p:cNvSpPr/>
          <p:nvPr/>
        </p:nvSpPr>
        <p:spPr>
          <a:xfrm>
            <a:off x="14148548" y="3583781"/>
            <a:ext cx="1238250" cy="381000"/>
          </a:xfrm>
          <a:prstGeom prst="roundRect">
            <a:avLst>
              <a:gd name="adj" fmla="val 20000"/>
            </a:avLst>
          </a:prstGeom>
          <a:solidFill>
            <a:srgbClr val="000000">
              <a:alpha val="2000"/>
            </a:srgbClr>
          </a:solidFill>
          <a:ln w="8659">
            <a:solidFill>
              <a:srgbClr val="E3D8CB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14252457" y="3592440"/>
            <a:ext cx="1030432" cy="401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A9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₹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066692" y="4943800"/>
            <a:ext cx="3796741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21" name="Text 18"/>
          <p:cNvSpPr/>
          <p:nvPr/>
        </p:nvSpPr>
        <p:spPr>
          <a:xfrm>
            <a:off x="1276242" y="4331818"/>
            <a:ext cx="3491543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Early Growth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4863432" y="4943800"/>
            <a:ext cx="3630865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23" name="Text 20"/>
          <p:cNvSpPr/>
          <p:nvPr/>
        </p:nvSpPr>
        <p:spPr>
          <a:xfrm>
            <a:off x="5018519" y="4331818"/>
            <a:ext cx="3320691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Month 3–6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8494297" y="4943800"/>
            <a:ext cx="3819741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5043" y="4331710"/>
            <a:ext cx="1238250" cy="381000"/>
          </a:xfrm>
          <a:prstGeom prst="roundRect">
            <a:avLst>
              <a:gd name="adj" fmla="val 20000"/>
            </a:avLst>
          </a:prstGeom>
          <a:solidFill>
            <a:srgbClr val="000000">
              <a:alpha val="2000"/>
            </a:srgbClr>
          </a:solidFill>
          <a:ln w="8659">
            <a:solidFill>
              <a:srgbClr val="E3D8CB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12314039" y="4943800"/>
            <a:ext cx="4907269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27" name="Shape 24"/>
          <p:cNvSpPr/>
          <p:nvPr/>
        </p:nvSpPr>
        <p:spPr>
          <a:xfrm>
            <a:off x="14148548" y="4366347"/>
            <a:ext cx="1238250" cy="381000"/>
          </a:xfrm>
          <a:prstGeom prst="roundRect">
            <a:avLst>
              <a:gd name="adj" fmla="val 20000"/>
            </a:avLst>
          </a:prstGeom>
          <a:solidFill>
            <a:srgbClr val="000000">
              <a:alpha val="2000"/>
            </a:srgbClr>
          </a:solidFill>
          <a:ln w="8659">
            <a:solidFill>
              <a:srgbClr val="E3D8CB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14252457" y="4375006"/>
            <a:ext cx="1030432" cy="401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A9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₹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066692" y="5726365"/>
            <a:ext cx="3796741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30" name="Text 27"/>
          <p:cNvSpPr/>
          <p:nvPr/>
        </p:nvSpPr>
        <p:spPr>
          <a:xfrm>
            <a:off x="1276242" y="5114384"/>
            <a:ext cx="3491543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Steady State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4863432" y="5726365"/>
            <a:ext cx="3630865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32" name="Text 29"/>
          <p:cNvSpPr/>
          <p:nvPr/>
        </p:nvSpPr>
        <p:spPr>
          <a:xfrm>
            <a:off x="5018519" y="5114384"/>
            <a:ext cx="3320691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Month 7–12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8494297" y="5726365"/>
            <a:ext cx="3819741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34" name="Shape 31"/>
          <p:cNvSpPr/>
          <p:nvPr/>
        </p:nvSpPr>
        <p:spPr>
          <a:xfrm>
            <a:off x="9785043" y="5114276"/>
            <a:ext cx="1238250" cy="381000"/>
          </a:xfrm>
          <a:prstGeom prst="roundRect">
            <a:avLst>
              <a:gd name="adj" fmla="val 20000"/>
            </a:avLst>
          </a:prstGeom>
          <a:solidFill>
            <a:srgbClr val="000000">
              <a:alpha val="2000"/>
            </a:srgbClr>
          </a:solidFill>
          <a:ln w="8659">
            <a:solidFill>
              <a:srgbClr val="E3D8CB"/>
            </a:solidFill>
            <a:prstDash val="dash"/>
          </a:ln>
        </p:spPr>
      </p:sp>
      <p:sp>
        <p:nvSpPr>
          <p:cNvPr id="35" name="Shape 32"/>
          <p:cNvSpPr/>
          <p:nvPr/>
        </p:nvSpPr>
        <p:spPr>
          <a:xfrm>
            <a:off x="12314039" y="5726365"/>
            <a:ext cx="4907269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36" name="Shape 33"/>
          <p:cNvSpPr/>
          <p:nvPr/>
        </p:nvSpPr>
        <p:spPr>
          <a:xfrm>
            <a:off x="14148548" y="5148912"/>
            <a:ext cx="1238250" cy="381000"/>
          </a:xfrm>
          <a:prstGeom prst="roundRect">
            <a:avLst>
              <a:gd name="adj" fmla="val 20000"/>
            </a:avLst>
          </a:prstGeom>
          <a:solidFill>
            <a:srgbClr val="000000">
              <a:alpha val="2000"/>
            </a:srgbClr>
          </a:solidFill>
          <a:ln w="8659">
            <a:solidFill>
              <a:srgbClr val="E3D8CB"/>
            </a:solidFill>
            <a:prstDash val="dash"/>
          </a:ln>
        </p:spPr>
      </p:sp>
      <p:sp>
        <p:nvSpPr>
          <p:cNvPr id="37" name="Text 34"/>
          <p:cNvSpPr/>
          <p:nvPr/>
        </p:nvSpPr>
        <p:spPr>
          <a:xfrm>
            <a:off x="14252457" y="5157571"/>
            <a:ext cx="1030432" cy="401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A9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₹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066692" y="6508930"/>
            <a:ext cx="3796741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39" name="Text 36"/>
          <p:cNvSpPr/>
          <p:nvPr/>
        </p:nvSpPr>
        <p:spPr>
          <a:xfrm>
            <a:off x="1276242" y="5896949"/>
            <a:ext cx="3491543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Year 2 Target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4863432" y="6508930"/>
            <a:ext cx="3630865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41" name="Text 38"/>
          <p:cNvSpPr/>
          <p:nvPr/>
        </p:nvSpPr>
        <p:spPr>
          <a:xfrm>
            <a:off x="5018519" y="5896949"/>
            <a:ext cx="3320691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Month 13–24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494297" y="6508930"/>
            <a:ext cx="3819741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43" name="Shape 40"/>
          <p:cNvSpPr/>
          <p:nvPr/>
        </p:nvSpPr>
        <p:spPr>
          <a:xfrm>
            <a:off x="9785043" y="5896841"/>
            <a:ext cx="1238250" cy="381000"/>
          </a:xfrm>
          <a:prstGeom prst="roundRect">
            <a:avLst>
              <a:gd name="adj" fmla="val 20000"/>
            </a:avLst>
          </a:prstGeom>
          <a:solidFill>
            <a:srgbClr val="000000">
              <a:alpha val="2000"/>
            </a:srgbClr>
          </a:solidFill>
          <a:ln w="8659">
            <a:solidFill>
              <a:srgbClr val="E3D8CB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12314039" y="6508930"/>
            <a:ext cx="4907269" cy="9525"/>
          </a:xfrm>
          <a:prstGeom prst="rect">
            <a:avLst/>
          </a:prstGeom>
          <a:solidFill>
            <a:srgbClr val="E3D8CB"/>
          </a:solidFill>
          <a:ln/>
        </p:spPr>
      </p:sp>
      <p:sp>
        <p:nvSpPr>
          <p:cNvPr id="45" name="Shape 42"/>
          <p:cNvSpPr/>
          <p:nvPr/>
        </p:nvSpPr>
        <p:spPr>
          <a:xfrm>
            <a:off x="14148548" y="5931477"/>
            <a:ext cx="1238250" cy="381000"/>
          </a:xfrm>
          <a:prstGeom prst="roundRect">
            <a:avLst>
              <a:gd name="adj" fmla="val 20000"/>
            </a:avLst>
          </a:prstGeom>
          <a:solidFill>
            <a:srgbClr val="000000">
              <a:alpha val="2000"/>
            </a:srgbClr>
          </a:solidFill>
          <a:ln w="8659">
            <a:solidFill>
              <a:srgbClr val="E3D8CB"/>
            </a:solidFill>
            <a:prstDash val="dash"/>
          </a:ln>
        </p:spPr>
      </p:sp>
      <p:sp>
        <p:nvSpPr>
          <p:cNvPr id="46" name="Text 43"/>
          <p:cNvSpPr/>
          <p:nvPr/>
        </p:nvSpPr>
        <p:spPr>
          <a:xfrm>
            <a:off x="14252457" y="5940136"/>
            <a:ext cx="1030432" cy="401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A9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₹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276242" y="6679514"/>
            <a:ext cx="3491543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Year 3 Target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5018519" y="6679514"/>
            <a:ext cx="3320691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Month 25–36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9785043" y="6679406"/>
            <a:ext cx="1238250" cy="381000"/>
          </a:xfrm>
          <a:prstGeom prst="roundRect">
            <a:avLst>
              <a:gd name="adj" fmla="val 20000"/>
            </a:avLst>
          </a:prstGeom>
          <a:solidFill>
            <a:srgbClr val="000000">
              <a:alpha val="2000"/>
            </a:srgbClr>
          </a:solidFill>
          <a:ln w="8659">
            <a:solidFill>
              <a:srgbClr val="E3D8CB"/>
            </a:solidFill>
            <a:prstDash val="dash"/>
          </a:ln>
        </p:spPr>
      </p:sp>
      <p:sp>
        <p:nvSpPr>
          <p:cNvPr id="50" name="Shape 47"/>
          <p:cNvSpPr/>
          <p:nvPr/>
        </p:nvSpPr>
        <p:spPr>
          <a:xfrm>
            <a:off x="14148548" y="6714043"/>
            <a:ext cx="1238250" cy="381000"/>
          </a:xfrm>
          <a:prstGeom prst="roundRect">
            <a:avLst>
              <a:gd name="adj" fmla="val 20000"/>
            </a:avLst>
          </a:prstGeom>
          <a:solidFill>
            <a:srgbClr val="000000">
              <a:alpha val="2000"/>
            </a:srgbClr>
          </a:solidFill>
          <a:ln w="8659">
            <a:solidFill>
              <a:srgbClr val="E3D8CB"/>
            </a:solidFill>
            <a:prstDash val="dash"/>
          </a:ln>
        </p:spPr>
      </p:sp>
      <p:sp>
        <p:nvSpPr>
          <p:cNvPr id="51" name="Text 48"/>
          <p:cNvSpPr/>
          <p:nvPr/>
        </p:nvSpPr>
        <p:spPr>
          <a:xfrm>
            <a:off x="14252457" y="6722702"/>
            <a:ext cx="1030432" cy="401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A9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₹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1066692" y="7577246"/>
            <a:ext cx="3468642" cy="1737501"/>
          </a:xfrm>
          <a:prstGeom prst="roundRect">
            <a:avLst>
              <a:gd name="adj" fmla="val 7675"/>
            </a:avLst>
          </a:prstGeom>
          <a:solidFill>
            <a:srgbClr val="FBF8F4"/>
          </a:solidFill>
          <a:ln w="8659">
            <a:solidFill>
              <a:srgbClr val="E3D8C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303870" y="7776404"/>
            <a:ext cx="3084115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Avg. Order Value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1303870" y="8185006"/>
            <a:ext cx="2994286" cy="381000"/>
          </a:xfrm>
          <a:prstGeom prst="roundRect">
            <a:avLst>
              <a:gd name="adj" fmla="val 20000"/>
            </a:avLst>
          </a:prstGeom>
          <a:solidFill>
            <a:srgbClr val="000000">
              <a:alpha val="2000"/>
            </a:srgbClr>
          </a:solidFill>
          <a:ln w="8659">
            <a:solidFill>
              <a:srgbClr val="E3D8CB"/>
            </a:solidFill>
            <a:prstDash val="dash"/>
          </a:ln>
        </p:spPr>
      </p:sp>
      <p:sp>
        <p:nvSpPr>
          <p:cNvPr id="55" name="Text 52"/>
          <p:cNvSpPr/>
          <p:nvPr/>
        </p:nvSpPr>
        <p:spPr>
          <a:xfrm>
            <a:off x="1400964" y="8193665"/>
            <a:ext cx="2800097" cy="401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A9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₹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4763853" y="7577246"/>
            <a:ext cx="3468778" cy="1737501"/>
          </a:xfrm>
          <a:prstGeom prst="roundRect">
            <a:avLst>
              <a:gd name="adj" fmla="val 7675"/>
            </a:avLst>
          </a:prstGeom>
          <a:solidFill>
            <a:srgbClr val="FBF8F4"/>
          </a:solidFill>
          <a:ln w="8659">
            <a:solidFill>
              <a:srgbClr val="E3D8C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001031" y="7776404"/>
            <a:ext cx="3084255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Est. Gross Margin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5001031" y="8185006"/>
            <a:ext cx="2994422" cy="381000"/>
          </a:xfrm>
          <a:prstGeom prst="roundRect">
            <a:avLst>
              <a:gd name="adj" fmla="val 20000"/>
            </a:avLst>
          </a:prstGeom>
          <a:solidFill>
            <a:srgbClr val="000000">
              <a:alpha val="2000"/>
            </a:srgbClr>
          </a:solidFill>
          <a:ln w="8659">
            <a:solidFill>
              <a:srgbClr val="E3D8CB"/>
            </a:solidFill>
            <a:prstDash val="dash"/>
          </a:ln>
        </p:spPr>
      </p:sp>
      <p:sp>
        <p:nvSpPr>
          <p:cNvPr id="59" name="Text 56"/>
          <p:cNvSpPr/>
          <p:nvPr/>
        </p:nvSpPr>
        <p:spPr>
          <a:xfrm>
            <a:off x="5098124" y="8193665"/>
            <a:ext cx="2800236" cy="401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A9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%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8461149" y="7577246"/>
            <a:ext cx="3468642" cy="1737501"/>
          </a:xfrm>
          <a:prstGeom prst="roundRect">
            <a:avLst>
              <a:gd name="adj" fmla="val 7675"/>
            </a:avLst>
          </a:prstGeom>
          <a:solidFill>
            <a:srgbClr val="FBF8F4"/>
          </a:solidFill>
          <a:ln w="8659">
            <a:solidFill>
              <a:srgbClr val="E3D8C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698327" y="7776404"/>
            <a:ext cx="3084115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Break-Even At</a:t>
            </a:r>
            <a:endParaRPr lang="en-US" sz="1800" dirty="0"/>
          </a:p>
        </p:txBody>
      </p:sp>
      <p:sp>
        <p:nvSpPr>
          <p:cNvPr id="62" name="Shape 59"/>
          <p:cNvSpPr/>
          <p:nvPr/>
        </p:nvSpPr>
        <p:spPr>
          <a:xfrm>
            <a:off x="8698327" y="8185006"/>
            <a:ext cx="2994286" cy="381000"/>
          </a:xfrm>
          <a:prstGeom prst="roundRect">
            <a:avLst>
              <a:gd name="adj" fmla="val 20000"/>
            </a:avLst>
          </a:prstGeom>
          <a:solidFill>
            <a:srgbClr val="000000">
              <a:alpha val="2000"/>
            </a:srgbClr>
          </a:solidFill>
          <a:ln w="8659">
            <a:solidFill>
              <a:srgbClr val="E3D8CB"/>
            </a:solidFill>
            <a:prstDash val="dash"/>
          </a:ln>
        </p:spPr>
      </p:sp>
      <p:sp>
        <p:nvSpPr>
          <p:cNvPr id="63" name="Text 60"/>
          <p:cNvSpPr/>
          <p:nvPr/>
        </p:nvSpPr>
        <p:spPr>
          <a:xfrm>
            <a:off x="8795422" y="8193665"/>
            <a:ext cx="2800097" cy="401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A9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orders/day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12158310" y="7577246"/>
            <a:ext cx="5062997" cy="1737501"/>
          </a:xfrm>
          <a:prstGeom prst="roundRect">
            <a:avLst>
              <a:gd name="adj" fmla="val 7675"/>
            </a:avLst>
          </a:prstGeom>
          <a:solidFill>
            <a:srgbClr val="4B0F16"/>
          </a:solidFill>
          <a:ln/>
        </p:spPr>
      </p:sp>
      <p:sp>
        <p:nvSpPr>
          <p:cNvPr id="65" name="Text 62"/>
          <p:cNvSpPr/>
          <p:nvPr/>
        </p:nvSpPr>
        <p:spPr>
          <a:xfrm>
            <a:off x="12444060" y="7805764"/>
            <a:ext cx="4626242" cy="1318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89B6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Key driver: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1E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once 30% of customers shift to weekly &amp; monthly plans, monthly revenue becomes largely predictable and advance-collected.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92" y="857250"/>
            <a:ext cx="389524" cy="3237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8561" y="871862"/>
            <a:ext cx="4113965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68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OPERATIONAL READINESS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66692" y="1352442"/>
            <a:ext cx="16639255" cy="684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Ready to Run From Day One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066692" y="2436722"/>
            <a:ext cx="8574233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ALREADY IN PLACE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92" y="3006058"/>
            <a:ext cx="323769" cy="3237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42806" y="2978727"/>
            <a:ext cx="583154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Full technology platform — built, tested, live</a:t>
            </a:r>
            <a:endParaRPr lang="en-US" sz="2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92" y="3606105"/>
            <a:ext cx="323769" cy="32376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42806" y="3578775"/>
            <a:ext cx="41747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Menu designed and categorised</a:t>
            </a:r>
            <a:endParaRPr lang="en-US" sz="2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92" y="4206153"/>
            <a:ext cx="323769" cy="32376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42806" y="4178823"/>
            <a:ext cx="71058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Order management and real-time tracking operational</a:t>
            </a:r>
            <a:endParaRPr lang="en-US" sz="22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692" y="4806201"/>
            <a:ext cx="323769" cy="323769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542806" y="4778871"/>
            <a:ext cx="716449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Four-role system — customer, kitchen, delivery, admin</a:t>
            </a:r>
            <a:endParaRPr lang="en-US" sz="22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692" y="5406249"/>
            <a:ext cx="323769" cy="323769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542806" y="5378919"/>
            <a:ext cx="722427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Database seeded with products, categories and pricing</a:t>
            </a:r>
            <a:endParaRPr lang="en-US" sz="22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692" y="6006297"/>
            <a:ext cx="323769" cy="323769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542806" y="5978967"/>
            <a:ext cx="614760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Business identity — brand, logo, name, domain</a:t>
            </a:r>
            <a:endParaRPr lang="en-US" sz="2250" dirty="0"/>
          </a:p>
        </p:txBody>
      </p:sp>
      <p:sp>
        <p:nvSpPr>
          <p:cNvPr id="18" name="Shape 9"/>
          <p:cNvSpPr/>
          <p:nvPr/>
        </p:nvSpPr>
        <p:spPr>
          <a:xfrm>
            <a:off x="10000708" y="2436722"/>
            <a:ext cx="7220599" cy="6229404"/>
          </a:xfrm>
          <a:prstGeom prst="roundRect">
            <a:avLst>
              <a:gd name="adj" fmla="val 2752"/>
            </a:avLst>
          </a:prstGeom>
          <a:solidFill>
            <a:srgbClr val="FBF8F4"/>
          </a:solidFill>
          <a:ln w="8659">
            <a:solidFill>
              <a:srgbClr val="E3D8CB"/>
            </a:solidFill>
            <a:prstDash val="solid"/>
          </a:ln>
        </p:spPr>
      </p:sp>
      <p:sp>
        <p:nvSpPr>
          <p:cNvPr id="19" name="Text 10"/>
          <p:cNvSpPr/>
          <p:nvPr/>
        </p:nvSpPr>
        <p:spPr>
          <a:xfrm>
            <a:off x="10409309" y="2864400"/>
            <a:ext cx="659549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LAUNCHES OPERATIONS</a:t>
            </a:r>
            <a:endParaRPr lang="en-US" sz="1800" dirty="0"/>
          </a:p>
        </p:txBody>
      </p:sp>
      <p:sp>
        <p:nvSpPr>
          <p:cNvPr id="20" name="Shape 11"/>
          <p:cNvSpPr/>
          <p:nvPr/>
        </p:nvSpPr>
        <p:spPr>
          <a:xfrm>
            <a:off x="10409309" y="3505443"/>
            <a:ext cx="104721" cy="104721"/>
          </a:xfrm>
          <a:prstGeom prst="ellipse">
            <a:avLst/>
          </a:prstGeom>
          <a:solidFill>
            <a:srgbClr val="A87B45"/>
          </a:solidFill>
          <a:ln/>
        </p:spPr>
      </p:sp>
      <p:sp>
        <p:nvSpPr>
          <p:cNvPr id="21" name="Text 12"/>
          <p:cNvSpPr/>
          <p:nvPr/>
        </p:nvSpPr>
        <p:spPr>
          <a:xfrm>
            <a:off x="10685454" y="3406405"/>
            <a:ext cx="388653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Kitchen space and equipment</a:t>
            </a:r>
            <a:endParaRPr lang="en-US" sz="2250" dirty="0"/>
          </a:p>
        </p:txBody>
      </p:sp>
      <p:sp>
        <p:nvSpPr>
          <p:cNvPr id="22" name="Shape 13"/>
          <p:cNvSpPr/>
          <p:nvPr/>
        </p:nvSpPr>
        <p:spPr>
          <a:xfrm>
            <a:off x="10409309" y="4124568"/>
            <a:ext cx="104721" cy="104721"/>
          </a:xfrm>
          <a:prstGeom prst="ellipse">
            <a:avLst/>
          </a:prstGeom>
          <a:solidFill>
            <a:srgbClr val="A87B45"/>
          </a:solidFill>
          <a:ln/>
        </p:spPr>
      </p:sp>
      <p:sp>
        <p:nvSpPr>
          <p:cNvPr id="23" name="Text 14"/>
          <p:cNvSpPr/>
          <p:nvPr/>
        </p:nvSpPr>
        <p:spPr>
          <a:xfrm>
            <a:off x="10685454" y="4025530"/>
            <a:ext cx="248911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Initial procurement</a:t>
            </a:r>
            <a:endParaRPr lang="en-US" sz="2250" dirty="0"/>
          </a:p>
        </p:txBody>
      </p:sp>
      <p:sp>
        <p:nvSpPr>
          <p:cNvPr id="24" name="Shape 15"/>
          <p:cNvSpPr/>
          <p:nvPr/>
        </p:nvSpPr>
        <p:spPr>
          <a:xfrm>
            <a:off x="10409309" y="4743693"/>
            <a:ext cx="104721" cy="104721"/>
          </a:xfrm>
          <a:prstGeom prst="ellipse">
            <a:avLst/>
          </a:prstGeom>
          <a:solidFill>
            <a:srgbClr val="A87B45"/>
          </a:solidFill>
          <a:ln/>
        </p:spPr>
      </p:sp>
      <p:sp>
        <p:nvSpPr>
          <p:cNvPr id="25" name="Text 16"/>
          <p:cNvSpPr/>
          <p:nvPr/>
        </p:nvSpPr>
        <p:spPr>
          <a:xfrm>
            <a:off x="10685454" y="4644655"/>
            <a:ext cx="214829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2–3 kitchen staff</a:t>
            </a:r>
            <a:endParaRPr lang="en-US" sz="2250" dirty="0"/>
          </a:p>
        </p:txBody>
      </p:sp>
      <p:sp>
        <p:nvSpPr>
          <p:cNvPr id="26" name="Shape 17"/>
          <p:cNvSpPr/>
          <p:nvPr/>
        </p:nvSpPr>
        <p:spPr>
          <a:xfrm>
            <a:off x="10409309" y="5362819"/>
            <a:ext cx="104721" cy="104721"/>
          </a:xfrm>
          <a:prstGeom prst="ellipse">
            <a:avLst/>
          </a:prstGeom>
          <a:solidFill>
            <a:srgbClr val="A87B45"/>
          </a:solidFill>
          <a:ln/>
        </p:spPr>
      </p:sp>
      <p:sp>
        <p:nvSpPr>
          <p:cNvPr id="27" name="Text 18"/>
          <p:cNvSpPr/>
          <p:nvPr/>
        </p:nvSpPr>
        <p:spPr>
          <a:xfrm>
            <a:off x="10685454" y="5263780"/>
            <a:ext cx="268959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319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 delivery personnel</a:t>
            </a:r>
            <a:endParaRPr lang="en-US" sz="2250" dirty="0"/>
          </a:p>
        </p:txBody>
      </p:sp>
      <p:sp>
        <p:nvSpPr>
          <p:cNvPr id="28" name="Text 19"/>
          <p:cNvSpPr/>
          <p:nvPr/>
        </p:nvSpPr>
        <p:spPr>
          <a:xfrm>
            <a:off x="1066692" y="9028049"/>
            <a:ext cx="16639255" cy="497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This is an operationally ready business — not a concept.</a:t>
            </a:r>
            <a:endParaRPr lang="en-US" sz="2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92" y="857250"/>
            <a:ext cx="389524" cy="3237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8561" y="871862"/>
            <a:ext cx="2817385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68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ROAD AHEAD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66692" y="1352442"/>
            <a:ext cx="16639255" cy="684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Phase-by-Phase Growth Plan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1066692" y="4567670"/>
            <a:ext cx="16154616" cy="18942"/>
          </a:xfrm>
          <a:prstGeom prst="rect">
            <a:avLst/>
          </a:prstGeom>
          <a:solidFill>
            <a:srgbClr val="C89B63"/>
          </a:solidFill>
          <a:ln/>
        </p:spPr>
      </p:sp>
      <p:sp>
        <p:nvSpPr>
          <p:cNvPr id="6" name="Shape 3"/>
          <p:cNvSpPr/>
          <p:nvPr/>
        </p:nvSpPr>
        <p:spPr>
          <a:xfrm>
            <a:off x="1066692" y="4491497"/>
            <a:ext cx="171423" cy="171423"/>
          </a:xfrm>
          <a:prstGeom prst="ellipse">
            <a:avLst/>
          </a:prstGeom>
          <a:solidFill>
            <a:srgbClr val="C89B63"/>
          </a:solidFill>
          <a:ln/>
          <a:effectLst>
            <a:outerShdw sx="100000" sy="100000" kx="0" ky="0" algn="bl" rotWithShape="0" blurRad="101600" dist="50800" dir="16200000">
              <a:srgbClr val="F5F1EC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66692" y="4834343"/>
            <a:ext cx="390966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PHASE 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6692" y="5204925"/>
            <a:ext cx="3909667" cy="46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Local Launch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066692" y="5667240"/>
            <a:ext cx="390966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263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Months 1–3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66692" y="6094918"/>
            <a:ext cx="3909667" cy="1032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3–5 km radius · 30–50 daily customers · build word-of-mouth and reviews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186254" y="4491497"/>
            <a:ext cx="171423" cy="171423"/>
          </a:xfrm>
          <a:prstGeom prst="ellipse">
            <a:avLst/>
          </a:prstGeom>
          <a:solidFill>
            <a:srgbClr val="C89B63"/>
          </a:solidFill>
          <a:ln/>
          <a:effectLst>
            <a:outerShdw sx="100000" sy="100000" kx="0" ky="0" algn="bl" rotWithShape="0" blurRad="101600" dist="50800" dir="16200000">
              <a:srgbClr val="F5F1EC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86254" y="4834343"/>
            <a:ext cx="390966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PHASE 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186254" y="5204925"/>
            <a:ext cx="3909667" cy="46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Subscription Push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5186254" y="5667240"/>
            <a:ext cx="390966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263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Months 4–6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186254" y="6094918"/>
            <a:ext cx="3909667" cy="1032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Launch weekly &amp; monthly plans · lock recurring revenue · expand zones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305816" y="4491497"/>
            <a:ext cx="171423" cy="171423"/>
          </a:xfrm>
          <a:prstGeom prst="ellipse">
            <a:avLst/>
          </a:prstGeom>
          <a:solidFill>
            <a:srgbClr val="C89B63"/>
          </a:solidFill>
          <a:ln/>
          <a:effectLst>
            <a:outerShdw sx="100000" sy="100000" kx="0" ky="0" algn="bl" rotWithShape="0" blurRad="101600" dist="50800" dir="16200000">
              <a:srgbClr val="F5F1EC">
                <a:alpha val="1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305816" y="4834343"/>
            <a:ext cx="390966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PHASE 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305816" y="5204925"/>
            <a:ext cx="3909667" cy="46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Scale</a:t>
            </a:r>
            <a:endParaRPr lang="en-US" sz="2550" dirty="0"/>
          </a:p>
        </p:txBody>
      </p:sp>
      <p:sp>
        <p:nvSpPr>
          <p:cNvPr id="19" name="Text 16"/>
          <p:cNvSpPr/>
          <p:nvPr/>
        </p:nvSpPr>
        <p:spPr>
          <a:xfrm>
            <a:off x="9305816" y="5667240"/>
            <a:ext cx="390966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263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Months 7–18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305816" y="6094918"/>
            <a:ext cx="3909667" cy="1032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Expand kitchen capacity · add delivery staff · onboard corporate &amp; catering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3425378" y="4491497"/>
            <a:ext cx="171423" cy="171423"/>
          </a:xfrm>
          <a:prstGeom prst="ellipse">
            <a:avLst/>
          </a:prstGeom>
          <a:solidFill>
            <a:srgbClr val="C89B63"/>
          </a:solidFill>
          <a:ln/>
          <a:effectLst>
            <a:outerShdw sx="100000" sy="100000" kx="0" ky="0" algn="bl" rotWithShape="0" blurRad="101600" dist="50800" dir="16200000">
              <a:srgbClr val="F5F1EC">
                <a:alpha val="10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3425378" y="4834343"/>
            <a:ext cx="390980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A87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PHASE 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3425378" y="5204925"/>
            <a:ext cx="3909807" cy="46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4B0F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City-Wide Presence</a:t>
            </a:r>
            <a:endParaRPr lang="en-US" sz="2550" dirty="0"/>
          </a:p>
        </p:txBody>
      </p:sp>
      <p:sp>
        <p:nvSpPr>
          <p:cNvPr id="24" name="Text 21"/>
          <p:cNvSpPr/>
          <p:nvPr/>
        </p:nvSpPr>
        <p:spPr>
          <a:xfrm>
            <a:off x="13425378" y="5667240"/>
            <a:ext cx="390980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263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Year 2–3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3425378" y="6094918"/>
            <a:ext cx="3909807" cy="701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7A655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Multiple kitchen hubs · franchise-ready model · full subscription base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C89B63">
              <a:alpha val="1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92" y="857250"/>
            <a:ext cx="389524" cy="3237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8561" y="871862"/>
            <a:ext cx="21118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68" kern="0" dirty="0">
                <a:solidFill>
                  <a:srgbClr val="C89B6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WHY WE WIN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66692" y="1352442"/>
            <a:ext cx="16639255" cy="1330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F5F1E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Right Product, for the Right Customer, </a:t>
            </a:r>
            <a:pPr algn="l" indent="0" marL="0">
              <a:lnSpc>
                <a:spcPct val="106000"/>
              </a:lnSpc>
              <a:buNone/>
            </a:pPr>
            <a:r>
              <a:rPr lang="en-US" sz="4800" b="1" i="1" spc="-48" kern="0" dirty="0">
                <a:solidFill>
                  <a:srgbClr val="C89B6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at the Right Time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066692" y="4523563"/>
            <a:ext cx="685719" cy="552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0" b="1" dirty="0">
                <a:solidFill>
                  <a:srgbClr val="C89B6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4500" dirty="0"/>
          </a:p>
        </p:txBody>
      </p:sp>
      <p:sp>
        <p:nvSpPr>
          <p:cNvPr id="7" name="Text 4"/>
          <p:cNvSpPr/>
          <p:nvPr/>
        </p:nvSpPr>
        <p:spPr>
          <a:xfrm>
            <a:off x="1904729" y="4523563"/>
            <a:ext cx="6029709" cy="399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75" b="1" dirty="0">
                <a:solidFill>
                  <a:srgbClr val="F5F1E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Demand is daily and non-negotiable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1904729" y="4961118"/>
            <a:ext cx="6029709" cy="381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1EC">
                    <a:alpha val="62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Vegetarian households eat every day — not occasionally.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448691" y="4523563"/>
            <a:ext cx="685719" cy="552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0" b="1" dirty="0">
                <a:solidFill>
                  <a:srgbClr val="C89B6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4500" dirty="0"/>
          </a:p>
        </p:txBody>
      </p:sp>
      <p:sp>
        <p:nvSpPr>
          <p:cNvPr id="10" name="Text 7"/>
          <p:cNvSpPr/>
          <p:nvPr/>
        </p:nvSpPr>
        <p:spPr>
          <a:xfrm>
            <a:off x="10286729" y="4523563"/>
            <a:ext cx="7142616" cy="399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75" b="1" dirty="0">
                <a:solidFill>
                  <a:srgbClr val="F5F1E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Trust compounds</a:t>
            </a:r>
            <a:endParaRPr lang="en-US" sz="2475" dirty="0"/>
          </a:p>
        </p:txBody>
      </p:sp>
      <p:sp>
        <p:nvSpPr>
          <p:cNvPr id="11" name="Text 8"/>
          <p:cNvSpPr/>
          <p:nvPr/>
        </p:nvSpPr>
        <p:spPr>
          <a:xfrm>
            <a:off x="10286729" y="4961118"/>
            <a:ext cx="7142616" cy="724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1EC">
                    <a:alpha val="62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good meal brings the next order. The model rewards consistency.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66692" y="5913753"/>
            <a:ext cx="685719" cy="552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0" b="1" dirty="0">
                <a:solidFill>
                  <a:srgbClr val="C89B6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4500" dirty="0"/>
          </a:p>
        </p:txBody>
      </p:sp>
      <p:sp>
        <p:nvSpPr>
          <p:cNvPr id="13" name="Text 10"/>
          <p:cNvSpPr/>
          <p:nvPr/>
        </p:nvSpPr>
        <p:spPr>
          <a:xfrm>
            <a:off x="1904729" y="5913753"/>
            <a:ext cx="7142476" cy="399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75" b="1" dirty="0">
                <a:solidFill>
                  <a:srgbClr val="F5F1E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Pre-order removes the #1 risk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1904729" y="6351308"/>
            <a:ext cx="7142476" cy="724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1EC">
                    <a:alpha val="62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unsold inventory, no waste — the failure point of most food businesses.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448691" y="5913753"/>
            <a:ext cx="685719" cy="552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0" b="1" dirty="0">
                <a:solidFill>
                  <a:srgbClr val="C89B6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4500" dirty="0"/>
          </a:p>
        </p:txBody>
      </p:sp>
      <p:sp>
        <p:nvSpPr>
          <p:cNvPr id="16" name="Text 13"/>
          <p:cNvSpPr/>
          <p:nvPr/>
        </p:nvSpPr>
        <p:spPr>
          <a:xfrm>
            <a:off x="10286729" y="5913753"/>
            <a:ext cx="5863734" cy="399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75" b="1" dirty="0">
                <a:solidFill>
                  <a:srgbClr val="F5F1E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Technology is built and owned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10286729" y="6351308"/>
            <a:ext cx="5863734" cy="381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1EC">
                    <a:alpha val="62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recurring development cost, full operational control.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66692" y="7303943"/>
            <a:ext cx="685719" cy="552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0" b="1" dirty="0">
                <a:solidFill>
                  <a:srgbClr val="C89B6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</a:t>
            </a:r>
            <a:endParaRPr lang="en-US" sz="4500" dirty="0"/>
          </a:p>
        </p:txBody>
      </p:sp>
      <p:sp>
        <p:nvSpPr>
          <p:cNvPr id="19" name="Text 16"/>
          <p:cNvSpPr/>
          <p:nvPr/>
        </p:nvSpPr>
        <p:spPr>
          <a:xfrm>
            <a:off x="1904729" y="7303943"/>
            <a:ext cx="5597144" cy="399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75" b="1" dirty="0">
                <a:solidFill>
                  <a:srgbClr val="F5F1E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market has no reliable incumbent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1904729" y="7741498"/>
            <a:ext cx="5597144" cy="381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1EC">
                    <a:alpha val="62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This segment is wide open.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C89B63">
              <a:alpha val="1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2744" y="2353514"/>
            <a:ext cx="962512" cy="8000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4372" y="3477301"/>
            <a:ext cx="16639255" cy="2256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400" b="1" spc="-84" kern="0" dirty="0">
                <a:solidFill>
                  <a:srgbClr val="F5F1E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Fresh Food. Every Day. </a:t>
            </a:r>
            <a:pPr algn="ctr" indent="0" marL="0">
              <a:lnSpc>
                <a:spcPct val="104000"/>
              </a:lnSpc>
              <a:buNone/>
            </a:pPr>
            <a:r>
              <a:rPr lang="en-US" sz="8400" b="1" i="1" spc="-84" kern="0" dirty="0">
                <a:solidFill>
                  <a:srgbClr val="C89B6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Without Compromise.</a:t>
            </a:r>
            <a:endParaRPr lang="en-US" sz="8400" dirty="0"/>
          </a:p>
        </p:txBody>
      </p:sp>
      <p:sp>
        <p:nvSpPr>
          <p:cNvPr id="5" name="Text 2"/>
          <p:cNvSpPr/>
          <p:nvPr/>
        </p:nvSpPr>
        <p:spPr>
          <a:xfrm>
            <a:off x="3748087" y="6019962"/>
            <a:ext cx="10791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5F1EC">
                    <a:alpha val="82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have built the platform. We have designed the menu. We have the systems in place. </a:t>
            </a:r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C89B6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are ready.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366607" y="7696173"/>
            <a:ext cx="1312962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1EC">
                    <a:alpha val="80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[Your Name]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117637" y="7696173"/>
            <a:ext cx="170532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1EC">
                    <a:alpha val="80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[Phone Number]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261033" y="7696173"/>
            <a:ext cx="1651343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1EC">
                    <a:alpha val="80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[Email Address]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350444" y="7696173"/>
            <a:ext cx="1647013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1EC">
                    <a:alpha val="80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[Website / App]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2026-05-31T22:40:25Z</dcterms:created>
  <dcterms:modified xsi:type="dcterms:W3CDTF">2026-05-31T22:40:25Z</dcterms:modified>
</cp:coreProperties>
</file>